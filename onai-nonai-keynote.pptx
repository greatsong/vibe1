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오프닝 키노트의 아톰·비트 세계관과 올해 수업 실험(신호등)을 하나로 잇는 발표입니다.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빌드 시작. 클릭할 때마다 On AI 흐름이 한 단계씩 나타납니다.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1단계: 아이데이션. 화이트보드로 팀원과 아이디어를 모읍니다.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2단계: 바이브 코딩. AI에게 초록불을 켜고 결과물을 빠르게 만듭니다.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3단계: 협력과 소통.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4단계: 개선.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5단계: 배포.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6단계: 발표. 여기까지가 On AI 한 사이클입니다.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 AI 줄이 한 번에 등장. 차이는 손 코딩 하나뿐임을 대비로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결론: 두 수업의 차이는 단 하나, 코드를 만드는 방법.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128016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121316"/>
          </a:solidFill>
          <a:ln w="12700">
            <a:solidFill>
              <a:srgbClr val="2A2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4640" y="1435608"/>
            <a:ext cx="237744" cy="237744"/>
          </a:xfrm>
          <a:prstGeom prst="ellipse">
            <a:avLst/>
          </a:prstGeom>
          <a:solidFill>
            <a:srgbClr val="5BE38B"/>
          </a:solidFill>
          <a:ln w="9525">
            <a:solidFill>
              <a:srgbClr val="2E9B58"/>
            </a:solidFill>
            <a:prstDash val="solid"/>
          </a:ln>
          <a:effectLst>
            <a:outerShdw sx="100000" sy="100000" kx="0" ky="0" algn="bl" rotWithShape="0" blurRad="114300" dist="50800" dir="16200000">
              <a:srgbClr val="5BE38B">
                <a:alpha val="5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76976" y="1435608"/>
            <a:ext cx="237744" cy="237744"/>
          </a:xfrm>
          <a:prstGeom prst="ellipse">
            <a:avLst/>
          </a:prstGeom>
          <a:solidFill>
            <a:srgbClr val="F3C34A"/>
          </a:solidFill>
          <a:ln w="9525">
            <a:solidFill>
              <a:srgbClr val="B98A17"/>
            </a:solidFill>
            <a:prstDash val="solid"/>
          </a:ln>
          <a:effectLst>
            <a:outerShdw sx="100000" sy="100000" kx="0" ky="0" algn="bl" rotWithShape="0" blurRad="114300" dist="50800" dir="16200000">
              <a:srgbClr val="F3C34A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79312" y="1435608"/>
            <a:ext cx="237744" cy="237744"/>
          </a:xfrm>
          <a:prstGeom prst="ellipse">
            <a:avLst/>
          </a:prstGeom>
          <a:solidFill>
            <a:srgbClr val="FF7A6B"/>
          </a:solidFill>
          <a:ln w="9525">
            <a:solidFill>
              <a:srgbClr val="C24537"/>
            </a:solidFill>
            <a:prstDash val="solid"/>
          </a:ln>
          <a:effectLst>
            <a:outerShdw sx="100000" sy="100000" kx="0" ky="0" algn="bl" rotWithShape="0" blurRad="114300" dist="50800" dir="16200000">
              <a:srgbClr val="FF7A6B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95648" y="1316736"/>
            <a:ext cx="475488" cy="475488"/>
          </a:xfrm>
          <a:prstGeom prst="ellipse">
            <a:avLst/>
          </a:prstGeom>
          <a:solidFill>
            <a:srgbClr val="F3B03A"/>
          </a:solidFill>
          <a:ln w="9525">
            <a:solidFill>
              <a:srgbClr val="B87510"/>
            </a:solidFill>
            <a:prstDash val="solid"/>
          </a:ln>
          <a:effectLst>
            <a:outerShdw sx="100000" sy="100000" kx="0" ky="0" algn="bl" rotWithShape="0" blurRad="177800" dist="50800" dir="16200000">
              <a:srgbClr val="F3B03A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66280" y="1344168"/>
            <a:ext cx="429768" cy="429768"/>
          </a:xfrm>
          <a:prstGeom prst="roundRect">
            <a:avLst>
              <a:gd name="adj" fmla="val 21277"/>
            </a:avLst>
          </a:prstGeom>
          <a:solidFill>
            <a:srgbClr val="5AD6E6"/>
          </a:solidFill>
          <a:ln w="9525">
            <a:solidFill>
              <a:srgbClr val="2E8C99"/>
            </a:solidFill>
            <a:prstDash val="solid"/>
          </a:ln>
          <a:effectLst>
            <a:outerShdw sx="100000" sy="100000" kx="0" ky="0" algn="bl" rotWithShape="0" blurRad="177800" dist="50800" dir="16200000">
              <a:srgbClr val="5AD6E6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수업 나눔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" y="283464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2026년의 AI융합교육,</a:t>
            </a:r>
            <a:endParaRPr lang="en-US" sz="40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AI</a:t>
            </a:r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 AI</a:t>
            </a:r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3C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</a:t>
            </a:r>
            <a:pPr algn="ctr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527048" y="4800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3B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아톰</a:t>
            </a:r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A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</a:t>
            </a:r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두 세상 사이에 신호등을 세웠습니다.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1051560"/>
            <a:ext cx="1554480" cy="1554480"/>
          </a:xfrm>
          <a:prstGeom prst="ellipse">
            <a:avLst/>
          </a:prstGeom>
          <a:solidFill>
            <a:srgbClr val="F3B03A"/>
          </a:solidFill>
          <a:ln w="12700">
            <a:solidFill>
              <a:srgbClr val="B87510"/>
            </a:solidFill>
            <a:prstDash val="solid"/>
          </a:ln>
          <a:effectLst>
            <a:outerShdw sx="100000" sy="100000" kx="0" ky="0" algn="bl" rotWithShape="0" blurRad="279400" dist="50800" dir="16200000">
              <a:srgbClr val="F3B03A">
                <a:alpha val="5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527048" y="2971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사는 곳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27048" y="3429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3B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아톰</a:t>
            </a:r>
            <a:pPr algn="ctr" indent="0" marL="0">
              <a:buNone/>
            </a:pPr>
            <a:r>
              <a:rPr lang="en-US" sz="44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세상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527048" y="4617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물질과 몸, 그리고 공간.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만질 수 있는 모든 것.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6896" y="86868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661508" y="86868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86120" y="86868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10732" y="86868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35344" y="868680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36896" y="119329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1508" y="119329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86120" y="119329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10732" y="119329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35344" y="1193292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36896" y="151790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1508" y="151790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6120" y="151790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10732" y="151790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35344" y="1517904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36896" y="184251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1508" y="184251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86120" y="184251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10732" y="184251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35344" y="1842516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36896" y="216712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1508" y="216712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86120" y="216712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10732" y="216712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35344" y="2167128"/>
            <a:ext cx="219456" cy="219456"/>
          </a:xfrm>
          <a:prstGeom prst="roundRect">
            <a:avLst>
              <a:gd name="adj" fmla="val 16667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527048" y="2971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 하나의 세상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27048" y="34290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A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</a:t>
            </a:r>
            <a:pPr algn="ctr" indent="0" marL="0">
              <a:buNone/>
            </a:pPr>
            <a:r>
              <a:rPr lang="en-US" sz="44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세상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1527048" y="4617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정보와 화면, 그리고 네트워크.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것이 </a:t>
            </a:r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A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A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흐른다.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1448" y="685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1000" kern="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291840" y="1920240"/>
            <a:ext cx="5577840" cy="0"/>
          </a:xfrm>
          <a:prstGeom prst="line">
            <a:avLst/>
          </a:prstGeom>
          <a:noFill/>
          <a:ln w="25400">
            <a:solidFill>
              <a:srgbClr val="E8E8E6"/>
            </a:solidFill>
            <a:prstDash val="solid"/>
          </a:ln>
          <a:effectLst>
            <a:outerShdw sx="100000" sy="100000" kx="0" ky="0" algn="bl" rotWithShape="0" blurRad="101600" dist="50800" dir="16200000">
              <a:srgbClr val="FFFFFF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0" y="1353312"/>
            <a:ext cx="1133856" cy="1133856"/>
          </a:xfrm>
          <a:prstGeom prst="ellipse">
            <a:avLst/>
          </a:prstGeom>
          <a:solidFill>
            <a:srgbClr val="F3B03A"/>
          </a:solidFill>
          <a:ln w="12700">
            <a:solidFill>
              <a:srgbClr val="B87510"/>
            </a:solidFill>
            <a:prstDash val="solid"/>
          </a:ln>
          <a:effectLst>
            <a:outerShdw sx="100000" sy="100000" kx="0" ky="0" algn="bl" rotWithShape="0" blurRad="228600" dist="50800" dir="16200000">
              <a:srgbClr val="F3B03A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32520" y="1435608"/>
            <a:ext cx="256032" cy="256032"/>
          </a:xfrm>
          <a:prstGeom prst="roundRect">
            <a:avLst>
              <a:gd name="adj" fmla="val 16071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089136" y="1435608"/>
            <a:ext cx="256032" cy="256032"/>
          </a:xfrm>
          <a:prstGeom prst="roundRect">
            <a:avLst>
              <a:gd name="adj" fmla="val 16071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445752" y="1435608"/>
            <a:ext cx="256032" cy="256032"/>
          </a:xfrm>
          <a:prstGeom prst="roundRect">
            <a:avLst>
              <a:gd name="adj" fmla="val 16071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732520" y="1792224"/>
            <a:ext cx="256032" cy="256032"/>
          </a:xfrm>
          <a:prstGeom prst="roundRect">
            <a:avLst>
              <a:gd name="adj" fmla="val 16071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89136" y="1792224"/>
            <a:ext cx="256032" cy="256032"/>
          </a:xfrm>
          <a:prstGeom prst="roundRect">
            <a:avLst>
              <a:gd name="adj" fmla="val 16071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445752" y="1792224"/>
            <a:ext cx="256032" cy="256032"/>
          </a:xfrm>
          <a:prstGeom prst="roundRect">
            <a:avLst>
              <a:gd name="adj" fmla="val 16071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732520" y="2148840"/>
            <a:ext cx="256032" cy="256032"/>
          </a:xfrm>
          <a:prstGeom prst="roundRect">
            <a:avLst>
              <a:gd name="adj" fmla="val 16071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089136" y="2148840"/>
            <a:ext cx="256032" cy="256032"/>
          </a:xfrm>
          <a:prstGeom prst="roundRect">
            <a:avLst>
              <a:gd name="adj" fmla="val 16071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445752" y="2148840"/>
            <a:ext cx="256032" cy="256032"/>
          </a:xfrm>
          <a:prstGeom prst="roundRect">
            <a:avLst>
              <a:gd name="adj" fmla="val 16071"/>
            </a:avLst>
          </a:prstGeom>
          <a:solidFill>
            <a:srgbClr val="5AD6E6"/>
          </a:solidFill>
          <a:ln w="6350">
            <a:solidFill>
              <a:srgbClr val="2E8C99"/>
            </a:solidFill>
            <a:prstDash val="solid"/>
          </a:ln>
          <a:effectLst>
            <a:outerShdw sx="100000" sy="100000" kx="0" ky="0" algn="bl" rotWithShape="0" blurRad="76200" dist="50800" dir="16200000">
              <a:srgbClr val="5AD6E6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527048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세상 사이에 다리가 놓였습니다.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27048" y="41148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아톰과 비트를 잇는, AI</a:t>
            </a:r>
            <a:endParaRPr lang="en-US" sz="40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그런데, 교실에서는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237744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6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다리에 언제 </a:t>
            </a:r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초록불</a:t>
            </a:r>
            <a:pPr algn="ctr" indent="0" marL="0">
              <a:lnSpc>
                <a:spcPct val="125000"/>
              </a:lnSpc>
              <a:buNone/>
            </a:pPr>
            <a:r>
              <a:rPr lang="en-US" sz="36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을,</a:t>
            </a:r>
            <a:pPr algn="ctr" indent="0" marL="0">
              <a:lnSpc>
                <a:spcPct val="125000"/>
              </a:lnSpc>
              <a:buNone/>
            </a:pPr>
            <a:r>
              <a:rPr lang="en-US" sz="36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</a:t>
            </a:r>
            <a:pPr algn="ctr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빨간불</a:t>
            </a:r>
            <a:pPr algn="ctr" indent="0" marL="0">
              <a:lnSpc>
                <a:spcPct val="125000"/>
              </a:lnSpc>
              <a:buNone/>
            </a:pPr>
            <a:r>
              <a:rPr lang="en-US" sz="36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켜야 할까?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27048" y="45262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 열풍 속에서,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수업이 마주한 질문입니다.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2022" y="1239012"/>
            <a:ext cx="1787652" cy="630936"/>
          </a:xfrm>
          <a:prstGeom prst="roundRect">
            <a:avLst>
              <a:gd name="adj" fmla="val 50000"/>
            </a:avLst>
          </a:prstGeom>
          <a:solidFill>
            <a:srgbClr val="121316"/>
          </a:solidFill>
          <a:ln w="12700">
            <a:solidFill>
              <a:srgbClr val="2A2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96458" y="1417777"/>
            <a:ext cx="273406" cy="273406"/>
          </a:xfrm>
          <a:prstGeom prst="ellipse">
            <a:avLst/>
          </a:prstGeom>
          <a:solidFill>
            <a:srgbClr val="5BE38B"/>
          </a:solidFill>
          <a:ln w="9525">
            <a:solidFill>
              <a:srgbClr val="2E9B58"/>
            </a:solidFill>
            <a:prstDash val="solid"/>
          </a:ln>
          <a:effectLst>
            <a:outerShdw sx="100000" sy="100000" kx="0" ky="0" algn="bl" rotWithShape="0" blurRad="114300" dist="50800" dir="16200000">
              <a:srgbClr val="5BE38B">
                <a:alpha val="5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59145" y="1417777"/>
            <a:ext cx="273406" cy="273406"/>
          </a:xfrm>
          <a:prstGeom prst="ellipse">
            <a:avLst/>
          </a:prstGeom>
          <a:solidFill>
            <a:srgbClr val="F3C34A"/>
          </a:solidFill>
          <a:ln w="9525">
            <a:solidFill>
              <a:srgbClr val="B98A17"/>
            </a:solidFill>
            <a:prstDash val="solid"/>
          </a:ln>
          <a:effectLst>
            <a:outerShdw sx="100000" sy="100000" kx="0" ky="0" algn="bl" rotWithShape="0" blurRad="114300" dist="50800" dir="16200000">
              <a:srgbClr val="F3C34A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21831" y="1417777"/>
            <a:ext cx="273406" cy="273406"/>
          </a:xfrm>
          <a:prstGeom prst="ellipse">
            <a:avLst/>
          </a:prstGeom>
          <a:solidFill>
            <a:srgbClr val="FF7A6B"/>
          </a:solidFill>
          <a:ln w="9525">
            <a:solidFill>
              <a:srgbClr val="C24537"/>
            </a:solidFill>
            <a:prstDash val="solid"/>
          </a:ln>
          <a:effectLst>
            <a:outerShdw sx="100000" sy="100000" kx="0" ky="0" algn="bl" rotWithShape="0" blurRad="114300" dist="50800" dir="16200000">
              <a:srgbClr val="FF7A6B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27048" y="2423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올해는, AI에게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2648" y="29718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수업에서는 </a:t>
            </a:r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초록불</a:t>
            </a:r>
            <a:pPr algn="ctr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켜고,</a:t>
            </a:r>
            <a:pPr algn="ctr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수업에서는 </a:t>
            </a:r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빨간불</a:t>
            </a:r>
            <a:pPr algn="ctr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켰습니다.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27048" y="4800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학생들의 성장과 문제해결능력 향상에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도움이 되는지 함께 나눕니다.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AI · </a:t>
            </a:r>
            <a:pPr algn="ctr" indent="0" marL="0">
              <a:buNone/>
            </a:pPr>
            <a:r>
              <a:rPr lang="en-US" sz="1300" spc="800" kern="0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18288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알고리즘보다 </a:t>
            </a:r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빠르고 쉽게</a:t>
            </a:r>
            <a:pPr algn="ctr"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결과물을 만들며,</a:t>
            </a:r>
            <a:pPr algn="ctr"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분석의 </a:t>
            </a:r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통찰</a:t>
            </a:r>
            <a:pPr algn="ctr"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algn="ctr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문제해결력</a:t>
            </a:r>
            <a:pPr algn="ctr" indent="0" marL="0">
              <a:lnSpc>
                <a:spcPct val="130000"/>
              </a:lnSpc>
              <a:buNone/>
            </a:pPr>
            <a:r>
              <a:rPr lang="en-US" sz="28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키웁니다.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375508" y="3657600"/>
            <a:ext cx="1600200" cy="566928"/>
          </a:xfrm>
          <a:prstGeom prst="roundRect">
            <a:avLst>
              <a:gd name="adj" fmla="val 50000"/>
            </a:avLst>
          </a:prstGeom>
          <a:solidFill>
            <a:srgbClr val="0F2E1C"/>
          </a:solidFill>
          <a:ln w="15875">
            <a:solidFill>
              <a:srgbClr val="5BE38B"/>
            </a:solidFill>
            <a:prstDash val="solid"/>
          </a:ln>
          <a:effectLst>
            <a:outerShdw sx="100000" sy="100000" kx="0" ky="0" algn="bl" rotWithShape="0" blurRad="127000" dist="50800" dir="16200000">
              <a:srgbClr val="5BE38B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75508" y="36576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발견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95748" y="3657600"/>
            <a:ext cx="1600200" cy="566928"/>
          </a:xfrm>
          <a:prstGeom prst="roundRect">
            <a:avLst>
              <a:gd name="adj" fmla="val 50000"/>
            </a:avLst>
          </a:prstGeom>
          <a:solidFill>
            <a:srgbClr val="0F2E1C"/>
          </a:solidFill>
          <a:ln w="15875">
            <a:solidFill>
              <a:srgbClr val="5BE38B"/>
            </a:solidFill>
            <a:prstDash val="solid"/>
          </a:ln>
          <a:effectLst>
            <a:outerShdw sx="100000" sy="100000" kx="0" ky="0" algn="bl" rotWithShape="0" blurRad="127000" dist="50800" dir="16200000">
              <a:srgbClr val="5BE38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95748" y="36576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15988" y="3657600"/>
            <a:ext cx="1600200" cy="566928"/>
          </a:xfrm>
          <a:prstGeom prst="roundRect">
            <a:avLst>
              <a:gd name="adj" fmla="val 50000"/>
            </a:avLst>
          </a:prstGeom>
          <a:solidFill>
            <a:srgbClr val="0F2E1C"/>
          </a:solidFill>
          <a:ln w="15875">
            <a:solidFill>
              <a:srgbClr val="5BE38B"/>
            </a:solidFill>
            <a:prstDash val="solid"/>
          </a:ln>
          <a:effectLst>
            <a:outerShdw sx="100000" sy="100000" kx="0" ky="0" algn="bl" rotWithShape="0" blurRad="127000" dist="50800" dir="16200000">
              <a:srgbClr val="5BE38B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15988" y="36576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해결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27048" y="47091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속도가 빨라질수록,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자체를 생각할 시간이 늘어납니다.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 AI · </a:t>
            </a:r>
            <a:pPr algn="ctr" indent="0" marL="0">
              <a:buNone/>
            </a:pPr>
            <a:r>
              <a:rPr lang="en-US" sz="1300" spc="800" kern="0" dirty="0">
                <a:solidFill>
                  <a:srgbClr val="F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22860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</a:t>
            </a:r>
            <a:pPr algn="ctr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사고력</a:t>
            </a:r>
            <a:pPr algn="ctr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키우는 수업에서는</a:t>
            </a:r>
            <a:pPr algn="ctr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AI를 </a:t>
            </a:r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잠시 멈춥니다</a:t>
            </a:r>
            <a:pPr algn="ctr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27048" y="4251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코드를 짜고 고쳐 보며,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생각하는 힘을 기릅니다.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777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활용한 도구 · 에듀테크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527048" y="12801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 필요한 도구는 AI와 함께 직접 만들었습니다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32308" y="21488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51619"/>
          </a:solidFill>
          <a:ln w="12700">
            <a:solidFill>
              <a:srgbClr val="272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0908" y="2295144"/>
            <a:ext cx="29718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당곡 AI 채팅</a:t>
            </a:r>
            <a:endParaRPr lang="en-US" sz="16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학생에게 유료 AI 접근을 열어 주기 위해 개발한 서비스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81348" y="21488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51619"/>
          </a:solidFill>
          <a:ln w="12700">
            <a:solidFill>
              <a:srgbClr val="2728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09948" y="2295144"/>
            <a:ext cx="29718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깃허브</a:t>
            </a:r>
            <a:endParaRPr lang="en-US" sz="16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프로젝트의 과정을 기록하고 협업하는 공간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30388" y="214884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51619"/>
          </a:solidFill>
          <a:ln w="12700">
            <a:solidFill>
              <a:srgbClr val="2728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58988" y="2295144"/>
            <a:ext cx="29718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pythink2</a:t>
            </a:r>
            <a:endParaRPr lang="en-US" sz="16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컴퓨팅 사고력을 키우기 위해 개발한 서비스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2308" y="39319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51619"/>
          </a:solidFill>
          <a:ln w="12700">
            <a:solidFill>
              <a:srgbClr val="2728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0908" y="4078224"/>
            <a:ext cx="29718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vpylab</a:t>
            </a:r>
            <a:endParaRPr lang="en-US" sz="16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융합적 문제해결력을 키우기 위해 개발한 서비스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81348" y="39319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51619"/>
          </a:solidFill>
          <a:ln w="12700">
            <a:solidFill>
              <a:srgbClr val="2728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9948" y="4078224"/>
            <a:ext cx="29718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3C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프롬프팅 챌린지</a:t>
            </a:r>
            <a:endParaRPr lang="en-US" sz="16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다듬는 과정에서 컴퓨팅 사고력을 키우는 활동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0388" y="3931920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151619"/>
          </a:solidFill>
          <a:ln w="12700">
            <a:solidFill>
              <a:srgbClr val="2728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8988" y="4078224"/>
            <a:ext cx="297180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3C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이미테이션 게임 챌린지</a:t>
            </a:r>
            <a:endParaRPr lang="en-US" sz="16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튜링의 이미테이션 게임을 직접 체험하는 활동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수업의 흐름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2807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AI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수업의 흐름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2807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AI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74520" y="2788920"/>
            <a:ext cx="2240280" cy="502920"/>
          </a:xfrm>
          <a:prstGeom prst="roundRect">
            <a:avLst>
              <a:gd name="adj" fmla="val 50000"/>
            </a:avLst>
          </a:prstGeom>
          <a:solidFill>
            <a:srgbClr val="103320"/>
          </a:solidFill>
          <a:ln w="22225">
            <a:solidFill>
              <a:srgbClr val="5BE38B"/>
            </a:solidFill>
            <a:prstDash val="solid"/>
          </a:ln>
          <a:effectLst>
            <a:outerShdw sx="100000" sy="100000" kx="0" ky="0" algn="bl" rotWithShape="0" blurRad="152400" dist="50800" dir="16200000">
              <a:srgbClr val="5BE38B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7452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아이데이션 (화이트보드)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수업의 흐름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2807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AI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74520" y="2788920"/>
            <a:ext cx="22402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452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아이데이션 (화이트보드)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78892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103320"/>
          </a:solidFill>
          <a:ln w="22225">
            <a:solidFill>
              <a:srgbClr val="5BE38B"/>
            </a:solidFill>
            <a:prstDash val="solid"/>
          </a:ln>
          <a:effectLst>
            <a:outerShdw sx="100000" sy="100000" kx="0" ky="0" algn="bl" rotWithShape="0" blurRad="152400" dist="50800" dir="16200000">
              <a:srgbClr val="5BE38B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수업의 흐름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2807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AI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74520" y="2788920"/>
            <a:ext cx="22402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452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아이데이션 (화이트보드)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78892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0E2818"/>
          </a:solidFill>
          <a:ln w="12700">
            <a:solidFill>
              <a:srgbClr val="5BE3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0" y="278892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103320"/>
          </a:solidFill>
          <a:ln w="22225">
            <a:solidFill>
              <a:srgbClr val="5BE38B"/>
            </a:solidFill>
            <a:prstDash val="solid"/>
          </a:ln>
          <a:effectLst>
            <a:outerShdw sx="100000" sy="100000" kx="0" ky="0" algn="bl" rotWithShape="0" blurRad="152400" dist="50800" dir="16200000">
              <a:srgbClr val="5BE38B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협력과 소통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수업의 흐름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2807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AI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74520" y="2788920"/>
            <a:ext cx="22402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452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아이데이션 (화이트보드)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78892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0E2818"/>
          </a:solidFill>
          <a:ln w="12700">
            <a:solidFill>
              <a:srgbClr val="5BE3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0" y="278892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협력과 소통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6092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35240" y="278892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03320"/>
          </a:solidFill>
          <a:ln w="22225">
            <a:solidFill>
              <a:srgbClr val="5BE38B"/>
            </a:solidFill>
            <a:prstDash val="solid"/>
          </a:ln>
          <a:effectLst>
            <a:outerShdw sx="100000" sy="100000" kx="0" ky="0" algn="bl" rotWithShape="0" blurRad="152400" dist="50800" dir="16200000">
              <a:srgbClr val="5BE38B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3524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수업의 흐름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2807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AI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74520" y="2788920"/>
            <a:ext cx="22402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452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아이데이션 (화이트보드)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78892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0E2818"/>
          </a:solidFill>
          <a:ln w="12700">
            <a:solidFill>
              <a:srgbClr val="5BE3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0" y="278892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협력과 소통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6092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35240" y="278892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0392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778240" y="278892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03320"/>
          </a:solidFill>
          <a:ln w="22225">
            <a:solidFill>
              <a:srgbClr val="5BE38B"/>
            </a:solidFill>
            <a:prstDash val="solid"/>
          </a:ln>
          <a:effectLst>
            <a:outerShdw sx="100000" sy="100000" kx="0" ky="0" algn="bl" rotWithShape="0" blurRad="152400" dist="50800" dir="16200000">
              <a:srgbClr val="5BE38B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7824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수업의 흐름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2807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AI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74520" y="2788920"/>
            <a:ext cx="22402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452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아이데이션 (화이트보드)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78892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0E2818"/>
          </a:solidFill>
          <a:ln w="12700">
            <a:solidFill>
              <a:srgbClr val="5BE3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0" y="278892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협력과 소통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6092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35240" y="278892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0392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778240" y="278892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4692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921240" y="278892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03320"/>
          </a:solidFill>
          <a:ln w="22225">
            <a:solidFill>
              <a:srgbClr val="5BE38B"/>
            </a:solidFill>
            <a:prstDash val="solid"/>
          </a:ln>
          <a:effectLst>
            <a:outerShdw sx="100000" sy="100000" kx="0" ky="0" algn="bl" rotWithShape="0" blurRad="152400" dist="50800" dir="16200000">
              <a:srgbClr val="5BE38B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92124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수업의 흐름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2807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AI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74520" y="2788920"/>
            <a:ext cx="22402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452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아이데이션 (화이트보드)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78892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0E2818"/>
          </a:solidFill>
          <a:ln w="12700">
            <a:solidFill>
              <a:srgbClr val="5BE3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0" y="278892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협력과 소통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6092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35240" y="278892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0392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778240" y="278892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4692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921240" y="278892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2124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3630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 AI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874520" y="3611880"/>
            <a:ext cx="22402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아이데이션 (화이트보드)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114800" y="363016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89120" y="361188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3A1712"/>
          </a:solidFill>
          <a:ln w="22225">
            <a:solidFill>
              <a:srgbClr val="FF7A6B"/>
            </a:solidFill>
            <a:prstDash val="solid"/>
          </a:ln>
          <a:effectLst>
            <a:outerShdw sx="100000" sy="100000" kx="0" ky="0" algn="bl" rotWithShape="0" blurRad="152400" dist="50800" dir="16200000">
              <a:srgbClr val="FF7A6B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89120" y="3611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코딩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669280" y="363016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0" y="361188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6118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협력과 소통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360920" y="363016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635240" y="361188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36118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503920" y="363016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778240" y="361188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36118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646920" y="363016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921240" y="361188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21240" y="36118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수업의 흐름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28072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AI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1874520" y="2788920"/>
            <a:ext cx="22402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452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아이데이션 (화이트보드)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11480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89120" y="278892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0E2818"/>
          </a:solidFill>
          <a:ln w="12700">
            <a:solidFill>
              <a:srgbClr val="5BE3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0" y="278892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협력과 소통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6092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35240" y="278892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0392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778240" y="278892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646920" y="28072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921240" y="278892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21240" y="27889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2920" y="363016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 AI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874520" y="3611880"/>
            <a:ext cx="22402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7452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아이데이션 (화이트보드)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114800" y="363016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89120" y="3611880"/>
            <a:ext cx="1280160" cy="502920"/>
          </a:xfrm>
          <a:prstGeom prst="roundRect">
            <a:avLst>
              <a:gd name="adj" fmla="val 50000"/>
            </a:avLst>
          </a:prstGeom>
          <a:solidFill>
            <a:srgbClr val="2E120E"/>
          </a:solidFill>
          <a:ln w="12700">
            <a:solidFill>
              <a:srgbClr val="FF7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3611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코딩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669280" y="363016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0" y="3611880"/>
            <a:ext cx="141732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36118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협력과 소통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360920" y="363016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635240" y="361188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36118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503920" y="363016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778240" y="361188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36118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646920" y="363016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921240" y="3611880"/>
            <a:ext cx="868680" cy="502920"/>
          </a:xfrm>
          <a:prstGeom prst="roundRect">
            <a:avLst>
              <a:gd name="adj" fmla="val 50000"/>
            </a:avLst>
          </a:prstGeom>
          <a:solidFill>
            <a:srgbClr val="161719"/>
          </a:solidFill>
          <a:ln w="12700">
            <a:solidFill>
              <a:srgbClr val="3A3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21240" y="36118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8A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527048" y="4663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수업의 차이는 단 하나, </a:t>
            </a:r>
            <a:pPr algn="ctr" indent="0" marL="0">
              <a:buNone/>
            </a:pPr>
            <a:r>
              <a:rPr lang="en-US" sz="17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만드는 방법</a:t>
            </a:r>
            <a:pPr algn="ctr" indent="0" marL="0">
              <a:buNone/>
            </a:pPr>
            <a:r>
              <a:rPr lang="en-US" sz="17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장면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24688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캡처 대신,</a:t>
            </a:r>
            <a:pPr algn="ctr" indent="0" marL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잠시 후 </a:t>
            </a:r>
            <a:pPr algn="ctr" indent="0" marL="0">
              <a:lnSpc>
                <a:spcPct val="130000"/>
              </a:lnSpc>
              <a:buNone/>
            </a:pPr>
            <a:r>
              <a:rPr lang="en-US" sz="32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 시연</a:t>
            </a:r>
            <a:pPr algn="ctr" indent="0" marL="0">
              <a:lnSpc>
                <a:spcPct val="130000"/>
              </a:lnSpc>
              <a:buNone/>
            </a:pPr>
            <a:r>
              <a:rPr lang="en-US" sz="32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보여드립니다.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527048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당곡 AI 채팅 · pythink2 · vpylab · 프롬프팅 챌린지 · 이미테이션 게임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반응 · 좋았던 것들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889608" y="1600200"/>
            <a:ext cx="8412480" cy="1234440"/>
          </a:xfrm>
          <a:prstGeom prst="roundRect">
            <a:avLst>
              <a:gd name="adj" fmla="val 8889"/>
            </a:avLst>
          </a:prstGeom>
          <a:solidFill>
            <a:srgbClr val="151619"/>
          </a:solidFill>
          <a:ln w="12700">
            <a:solidFill>
              <a:srgbClr val="2728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5640" y="1801368"/>
            <a:ext cx="50292" cy="277368"/>
          </a:xfrm>
          <a:prstGeom prst="rect">
            <a:avLst/>
          </a:prstGeom>
          <a:solidFill>
            <a:srgbClr val="5BE38B"/>
          </a:solidFill>
          <a:ln/>
        </p:spPr>
      </p:sp>
      <p:sp>
        <p:nvSpPr>
          <p:cNvPr id="5" name="Shape 3"/>
          <p:cNvSpPr/>
          <p:nvPr/>
        </p:nvSpPr>
        <p:spPr>
          <a:xfrm>
            <a:off x="2145640" y="2078736"/>
            <a:ext cx="50292" cy="277368"/>
          </a:xfrm>
          <a:prstGeom prst="rect">
            <a:avLst/>
          </a:prstGeom>
          <a:solidFill>
            <a:srgbClr val="F3C34A"/>
          </a:solidFill>
          <a:ln/>
        </p:spPr>
      </p:sp>
      <p:sp>
        <p:nvSpPr>
          <p:cNvPr id="6" name="Shape 4"/>
          <p:cNvSpPr/>
          <p:nvPr/>
        </p:nvSpPr>
        <p:spPr>
          <a:xfrm>
            <a:off x="2145640" y="2356104"/>
            <a:ext cx="50292" cy="277368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7" name="Text 5"/>
          <p:cNvSpPr/>
          <p:nvPr/>
        </p:nvSpPr>
        <p:spPr>
          <a:xfrm>
            <a:off x="2438248" y="1728216"/>
            <a:ext cx="754380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학생들이 AI로 만든 교육 서비스를 매우 흥미롭게 쓰며 수업에 참여했습니다.</a:t>
            </a:r>
            <a:endParaRPr lang="en-US" sz="1600" dirty="0"/>
          </a:p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이미테이션 게임, 프롬프팅 챌린지 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89608" y="315468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151619"/>
          </a:solidFill>
          <a:ln w="12700">
            <a:solidFill>
              <a:srgbClr val="2728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5640" y="3355848"/>
            <a:ext cx="50292" cy="231648"/>
          </a:xfrm>
          <a:prstGeom prst="rect">
            <a:avLst/>
          </a:prstGeom>
          <a:solidFill>
            <a:srgbClr val="5BE38B"/>
          </a:solidFill>
          <a:ln/>
        </p:spPr>
      </p:sp>
      <p:sp>
        <p:nvSpPr>
          <p:cNvPr id="10" name="Shape 8"/>
          <p:cNvSpPr/>
          <p:nvPr/>
        </p:nvSpPr>
        <p:spPr>
          <a:xfrm>
            <a:off x="2145640" y="3587496"/>
            <a:ext cx="50292" cy="231648"/>
          </a:xfrm>
          <a:prstGeom prst="rect">
            <a:avLst/>
          </a:prstGeom>
          <a:solidFill>
            <a:srgbClr val="F3C34A"/>
          </a:solidFill>
          <a:ln/>
        </p:spPr>
      </p:sp>
      <p:sp>
        <p:nvSpPr>
          <p:cNvPr id="11" name="Shape 9"/>
          <p:cNvSpPr/>
          <p:nvPr/>
        </p:nvSpPr>
        <p:spPr>
          <a:xfrm>
            <a:off x="2145640" y="3819144"/>
            <a:ext cx="50292" cy="231648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2" name="Text 10"/>
          <p:cNvSpPr/>
          <p:nvPr/>
        </p:nvSpPr>
        <p:spPr>
          <a:xfrm>
            <a:off x="2438248" y="3282696"/>
            <a:ext cx="7543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이해가 어려운 인공신경망의 원리를 2차원과 3차원 그래프로 보여 주자, 학생들의 이해가 눈에 띄게 좋아졌습니다.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889608" y="457200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151619"/>
          </a:solidFill>
          <a:ln w="12700">
            <a:solidFill>
              <a:srgbClr val="2728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5640" y="4773168"/>
            <a:ext cx="50292" cy="231648"/>
          </a:xfrm>
          <a:prstGeom prst="rect">
            <a:avLst/>
          </a:prstGeom>
          <a:solidFill>
            <a:srgbClr val="5BE38B"/>
          </a:solidFill>
          <a:ln/>
        </p:spPr>
      </p:sp>
      <p:sp>
        <p:nvSpPr>
          <p:cNvPr id="15" name="Shape 13"/>
          <p:cNvSpPr/>
          <p:nvPr/>
        </p:nvSpPr>
        <p:spPr>
          <a:xfrm>
            <a:off x="2145640" y="5004816"/>
            <a:ext cx="50292" cy="231648"/>
          </a:xfrm>
          <a:prstGeom prst="rect">
            <a:avLst/>
          </a:prstGeom>
          <a:solidFill>
            <a:srgbClr val="F3C34A"/>
          </a:solidFill>
          <a:ln/>
        </p:spPr>
      </p:sp>
      <p:sp>
        <p:nvSpPr>
          <p:cNvPr id="16" name="Shape 14"/>
          <p:cNvSpPr/>
          <p:nvPr/>
        </p:nvSpPr>
        <p:spPr>
          <a:xfrm>
            <a:off x="2145640" y="5236464"/>
            <a:ext cx="50292" cy="231648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7" name="Text 15"/>
          <p:cNvSpPr/>
          <p:nvPr/>
        </p:nvSpPr>
        <p:spPr>
          <a:xfrm>
            <a:off x="2438248" y="4700016"/>
            <a:ext cx="7543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6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코딩에서는 친구들과 소통하며 재미있게 협력해 문제를 해결하는 모습이 인상 깊었습니다.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교사의 인사이트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2194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궁극적으로는 </a:t>
            </a:r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</a:t>
            </a:r>
            <a:pPr algn="ctr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필요합니다.</a:t>
            </a:r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초록불</a:t>
            </a:r>
            <a:pPr algn="ctr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algn="ctr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빨간불</a:t>
            </a:r>
            <a:pPr algn="ctr" indent="0" marL="0">
              <a:lnSpc>
                <a:spcPct val="130000"/>
              </a:lnSpc>
              <a:buNone/>
            </a:pPr>
            <a:r>
              <a:rPr lang="en-US" sz="3000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서로를 보완합니다.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27048" y="4160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사고력을 키우려면 AI의 도움을 걷어내야 하고,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문제해결력을 키우려면 AI를 잘 쓰는 법도 배워야 합니다.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지향점 · </a:t>
            </a:r>
            <a:pPr algn="ctr" indent="0" marL="0">
              <a:buNone/>
            </a:pPr>
            <a:r>
              <a:rPr lang="en-US" sz="1300" spc="800" kern="0" dirty="0">
                <a:solidFill>
                  <a:srgbClr val="F3C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사이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527048" y="1463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불빛 사이에서 우리가 향하는 곳은,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527048" y="201168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3C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융합적</a:t>
            </a:r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문제해결교육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527048" y="416052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시대에 더 깊이 생각하고,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넓고 창의적으로 생각하고 만들며,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협력하고 개선하는 교육.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3B0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아톰</a:t>
            </a:r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AD6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</a:t>
            </a:r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두 세상을 스스로 잇는 힘을 기릅니다.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7048" y="1737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다리 위 신호등을 쥔 사람은 선생님이기에,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527048" y="228600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선생님이 </a:t>
            </a:r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pPr algn="ctr" indent="0" marL="0">
              <a:lnSpc>
                <a:spcPct val="110000"/>
              </a:lnSpc>
              <a:buNone/>
            </a:pPr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경험해야 합니다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527048" y="4389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AI로 문제를 해결해 보는 경험이 중요합니다.</a:t>
            </a:r>
            <a:endParaRPr lang="en-US" sz="15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좋은 방법은 AI로 </a:t>
            </a:r>
            <a:pPr algn="ctr" indent="0" marL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교수학습자료를 직접 만들어 보는 것</a:t>
            </a:r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18608" y="1463040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121316"/>
          </a:solidFill>
          <a:ln w="12700">
            <a:solidFill>
              <a:srgbClr val="2A2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74640" y="1618488"/>
            <a:ext cx="237744" cy="237744"/>
          </a:xfrm>
          <a:prstGeom prst="ellipse">
            <a:avLst/>
          </a:prstGeom>
          <a:solidFill>
            <a:srgbClr val="5BE38B"/>
          </a:solidFill>
          <a:ln w="9525">
            <a:solidFill>
              <a:srgbClr val="2E9B58"/>
            </a:solidFill>
            <a:prstDash val="solid"/>
          </a:ln>
          <a:effectLst>
            <a:outerShdw sx="100000" sy="100000" kx="0" ky="0" algn="bl" rotWithShape="0" blurRad="114300" dist="50800" dir="16200000">
              <a:srgbClr val="5BE38B">
                <a:alpha val="5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76976" y="1618488"/>
            <a:ext cx="237744" cy="237744"/>
          </a:xfrm>
          <a:prstGeom prst="ellipse">
            <a:avLst/>
          </a:prstGeom>
          <a:solidFill>
            <a:srgbClr val="F3C34A"/>
          </a:solidFill>
          <a:ln w="9525">
            <a:solidFill>
              <a:srgbClr val="B98A17"/>
            </a:solidFill>
            <a:prstDash val="solid"/>
          </a:ln>
          <a:effectLst>
            <a:outerShdw sx="100000" sy="100000" kx="0" ky="0" algn="bl" rotWithShape="0" blurRad="114300" dist="50800" dir="16200000">
              <a:srgbClr val="F3C34A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79312" y="1618488"/>
            <a:ext cx="237744" cy="237744"/>
          </a:xfrm>
          <a:prstGeom prst="ellipse">
            <a:avLst/>
          </a:prstGeom>
          <a:solidFill>
            <a:srgbClr val="FF7A6B"/>
          </a:solidFill>
          <a:ln w="9525">
            <a:solidFill>
              <a:srgbClr val="C24537"/>
            </a:solidFill>
            <a:prstDash val="solid"/>
          </a:ln>
          <a:effectLst>
            <a:outerShdw sx="100000" sy="100000" kx="0" ky="0" algn="bl" rotWithShape="0" blurRad="114300" dist="50800" dir="16200000">
              <a:srgbClr val="FF7A6B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95648" y="1499616"/>
            <a:ext cx="475488" cy="475488"/>
          </a:xfrm>
          <a:prstGeom prst="ellipse">
            <a:avLst/>
          </a:prstGeom>
          <a:solidFill>
            <a:srgbClr val="F3B03A"/>
          </a:solidFill>
          <a:ln w="9525">
            <a:solidFill>
              <a:srgbClr val="B87510"/>
            </a:solidFill>
            <a:prstDash val="solid"/>
          </a:ln>
          <a:effectLst>
            <a:outerShdw sx="100000" sy="100000" kx="0" ky="0" algn="bl" rotWithShape="0" blurRad="177800" dist="50800" dir="16200000">
              <a:srgbClr val="F3B03A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66280" y="1527048"/>
            <a:ext cx="429768" cy="429768"/>
          </a:xfrm>
          <a:prstGeom prst="roundRect">
            <a:avLst>
              <a:gd name="adj" fmla="val 21277"/>
            </a:avLst>
          </a:prstGeom>
          <a:solidFill>
            <a:srgbClr val="5AD6E6"/>
          </a:solidFill>
          <a:ln w="9525">
            <a:solidFill>
              <a:srgbClr val="2E8C99"/>
            </a:solidFill>
            <a:prstDash val="solid"/>
          </a:ln>
          <a:effectLst>
            <a:outerShdw sx="100000" sy="100000" kx="0" ky="0" algn="bl" rotWithShape="0" blurRad="177800" dist="50800" dir="16200000">
              <a:srgbClr val="5AD6E6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" y="2514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6E6E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2026년의 AI융합교육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" y="301752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5BE3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AI</a:t>
            </a:r>
            <a:pPr algn="ctr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algn="ctr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7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Non AI</a:t>
            </a:r>
            <a:pPr algn="ctr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pPr algn="ctr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</a:t>
            </a:r>
            <a:pPr algn="ctr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C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</a:t>
            </a:r>
            <a:pPr algn="ctr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4F4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527048" y="4937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9A9A9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2026-07-29T22:41:36Z</dcterms:created>
  <dcterms:modified xsi:type="dcterms:W3CDTF">2026-07-29T22:41:36Z</dcterms:modified>
</cp:coreProperties>
</file>